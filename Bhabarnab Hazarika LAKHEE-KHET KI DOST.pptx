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2"/>
  </p:notesMasterIdLst>
  <p:sldIdLst>
    <p:sldId id="256" r:id="rId5"/>
    <p:sldId id="2146847054" r:id="rId6"/>
    <p:sldId id="262" r:id="rId7"/>
    <p:sldId id="263" r:id="rId8"/>
    <p:sldId id="265" r:id="rId9"/>
    <p:sldId id="2146847058" r:id="rId10"/>
    <p:sldId id="266" r:id="rId11"/>
    <p:sldId id="2146847057" r:id="rId12"/>
    <p:sldId id="267" r:id="rId13"/>
    <p:sldId id="2146847059" r:id="rId14"/>
    <p:sldId id="2146847061" r:id="rId15"/>
    <p:sldId id="2146847060" r:id="rId16"/>
    <p:sldId id="268" r:id="rId17"/>
    <p:sldId id="2146847055" r:id="rId18"/>
    <p:sldId id="269" r:id="rId19"/>
    <p:sldId id="2146847056" r:id="rId20"/>
    <p:sldId id="25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9BDB"/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1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9/9/2026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9/9/2026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9/9/2026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9/9/2026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habarnabhazarika2002-coder/LAKHEE.AI.git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3907" y="2665537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LAKHEE AI : </a:t>
            </a:r>
            <a:r>
              <a:rPr lang="en-IN" sz="3100" dirty="0">
                <a:solidFill>
                  <a:schemeClr val="accent1"/>
                </a:solidFill>
              </a:rPr>
              <a:t>India's AI-Powered Procurement Platform for Fertilizers &amp; Agrochemicals</a:t>
            </a:r>
            <a:br>
              <a:rPr lang="en-IN" dirty="0"/>
            </a:br>
            <a:br>
              <a:rPr lang="en-IN" dirty="0"/>
            </a:b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69402" y="4192463"/>
            <a:ext cx="798018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Name-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Bhabarnab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Hazarika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 Assam Agricultural University, Jorhat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 - Agriculture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4.    AICTE ID : </a:t>
            </a:r>
            <a:r>
              <a:rPr lang="en-IN" sz="2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STU6a6689c1cc8771785104833</a:t>
            </a:r>
            <a:endParaRPr lang="en-US" sz="20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71074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9469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707" y="800799"/>
            <a:ext cx="11354586" cy="56203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	Farmers often face difficulty in obtaining fertilizers and agrochemicals when they are urgently required, especially during sowing periods and pest or disease outbreaks.</a:t>
            </a:r>
          </a:p>
          <a:p>
            <a:pPr lvl="0"/>
            <a:r>
              <a:rPr lang="en-IN" sz="1800" dirty="0"/>
              <a:t>Localized shortages of agricultural inputs </a:t>
            </a:r>
          </a:p>
          <a:p>
            <a:pPr lvl="0"/>
            <a:r>
              <a:rPr lang="en-IN" sz="1800" dirty="0"/>
              <a:t>Uneven distribution of supplier inventory </a:t>
            </a:r>
          </a:p>
          <a:p>
            <a:pPr lvl="0"/>
            <a:r>
              <a:rPr lang="en-IN" sz="1800" dirty="0"/>
              <a:t>Difficulty finding nearby suppliers with required products </a:t>
            </a:r>
          </a:p>
          <a:p>
            <a:pPr lvl="0"/>
            <a:r>
              <a:rPr lang="en-IN" sz="1800" dirty="0"/>
              <a:t>Delayed deliveries during peak agricultural seasons </a:t>
            </a:r>
          </a:p>
          <a:p>
            <a:pPr lvl="0"/>
            <a:r>
              <a:rPr lang="en-IN" sz="1800" dirty="0"/>
              <a:t>Lack of real-time information about stock availability </a:t>
            </a:r>
          </a:p>
          <a:p>
            <a:pPr lvl="0"/>
            <a:r>
              <a:rPr lang="en-IN" sz="1800" dirty="0"/>
              <a:t>Price variation among suppliers </a:t>
            </a:r>
          </a:p>
          <a:p>
            <a:pPr lvl="0"/>
            <a:r>
              <a:rPr lang="en-IN" sz="1800" dirty="0"/>
              <a:t>Risk of purchasing unverified or counterfeit agricultural inputs </a:t>
            </a:r>
          </a:p>
          <a:p>
            <a:pPr marL="0" indent="0">
              <a:buNone/>
            </a:pPr>
            <a:r>
              <a:rPr lang="en-IN" sz="1800" dirty="0"/>
              <a:t>	These problems can result in delayed farm operations, increased procurement costs and potential crop losses.</a:t>
            </a:r>
          </a:p>
          <a:p>
            <a:pPr marL="0" indent="0" algn="just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926" y="228915"/>
            <a:ext cx="12143874" cy="697399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IN" b="1" dirty="0"/>
              <a:t>	</a:t>
            </a:r>
            <a:r>
              <a:rPr lang="en-IN" sz="1800" b="1" dirty="0"/>
              <a:t>LAKHEE – KHET KI DOST</a:t>
            </a:r>
            <a:r>
              <a:rPr lang="en-IN" sz="1800" dirty="0"/>
              <a:t> is a AI POWERED- geo-spatial procurement matching platform that connects farmers with verified agricultural-input suppliers.</a:t>
            </a:r>
          </a:p>
          <a:p>
            <a:pPr marL="0" indent="0">
              <a:buNone/>
            </a:pPr>
            <a:r>
              <a:rPr lang="en-IN" sz="1800" dirty="0"/>
              <a:t>The system will:</a:t>
            </a:r>
          </a:p>
          <a:p>
            <a:pPr lvl="0"/>
            <a:r>
              <a:rPr lang="en-IN" sz="1800" dirty="0"/>
              <a:t>Allow suppliers to register products, stock, prices and locations. </a:t>
            </a:r>
          </a:p>
          <a:p>
            <a:pPr lvl="0"/>
            <a:r>
              <a:rPr lang="en-IN" sz="1800" dirty="0"/>
              <a:t>Allow farmers to post their fertilizer or agrochemical requirements. </a:t>
            </a:r>
          </a:p>
          <a:p>
            <a:pPr lvl="0"/>
            <a:r>
              <a:rPr lang="en-IN" sz="1800" dirty="0"/>
              <a:t>Match farmers with suitable suppliers based on product, quantity and location. </a:t>
            </a:r>
          </a:p>
          <a:p>
            <a:pPr lvl="0"/>
            <a:r>
              <a:rPr lang="en-IN" sz="1800" dirty="0"/>
              <a:t>Identify exact products or verified chemical equivalents. </a:t>
            </a:r>
          </a:p>
          <a:p>
            <a:pPr lvl="0"/>
            <a:r>
              <a:rPr lang="en-IN" sz="1800" dirty="0"/>
              <a:t>Notify nearby suppliers about urgent requirements. </a:t>
            </a:r>
          </a:p>
          <a:p>
            <a:pPr lvl="0"/>
            <a:r>
              <a:rPr lang="en-IN" sz="1800" dirty="0"/>
              <a:t>Track orders from request to delivery. </a:t>
            </a:r>
          </a:p>
          <a:p>
            <a:pPr lvl="0"/>
            <a:r>
              <a:rPr lang="en-IN" sz="1800" dirty="0"/>
              <a:t>Provide an admin system for supplier and product verification.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096" y="1192868"/>
            <a:ext cx="8406062" cy="5849616"/>
          </a:xfrm>
        </p:spPr>
        <p:txBody>
          <a:bodyPr>
            <a:normAutofit/>
          </a:bodyPr>
          <a:lstStyle/>
          <a:p>
            <a:r>
              <a:rPr lang="en-IN" sz="1800" b="1" dirty="0"/>
              <a:t>Step 1:</a:t>
            </a:r>
            <a:r>
              <a:rPr lang="en-IN" sz="1800" dirty="0"/>
              <a:t> Farmer enters agricultural-input requirement.</a:t>
            </a:r>
          </a:p>
          <a:p>
            <a:pPr marL="0" indent="0">
              <a:buNone/>
            </a:pPr>
            <a:r>
              <a:rPr lang="en-IN" sz="1800" dirty="0"/>
              <a:t>        ↓</a:t>
            </a:r>
          </a:p>
          <a:p>
            <a:r>
              <a:rPr lang="en-IN" sz="1800" b="1" dirty="0"/>
              <a:t>Step 2:</a:t>
            </a:r>
            <a:r>
              <a:rPr lang="en-IN" sz="1800" dirty="0"/>
              <a:t> Python application receives the request.</a:t>
            </a:r>
          </a:p>
          <a:p>
            <a:pPr marL="0" indent="0">
              <a:buNone/>
            </a:pPr>
            <a:r>
              <a:rPr lang="en-IN" sz="1800" dirty="0"/>
              <a:t>        ↓</a:t>
            </a:r>
          </a:p>
          <a:p>
            <a:r>
              <a:rPr lang="en-IN" sz="1800" b="1" dirty="0"/>
              <a:t>Step 3:</a:t>
            </a:r>
            <a:r>
              <a:rPr lang="en-IN" sz="1800" dirty="0"/>
              <a:t> Requirement is processed using Gemini 3.6 Flash.</a:t>
            </a:r>
          </a:p>
          <a:p>
            <a:pPr marL="0" indent="0">
              <a:buNone/>
            </a:pPr>
            <a:r>
              <a:rPr lang="en-IN" sz="1800" dirty="0"/>
              <a:t>        ↓</a:t>
            </a:r>
          </a:p>
          <a:p>
            <a:r>
              <a:rPr lang="en-IN" sz="1800" b="1" dirty="0"/>
              <a:t>Step 4:</a:t>
            </a:r>
            <a:r>
              <a:rPr lang="en-IN" sz="1800" dirty="0"/>
              <a:t> The AI analyses the product, crop and requirement information.</a:t>
            </a:r>
          </a:p>
          <a:p>
            <a:pPr marL="0" indent="0">
              <a:buNone/>
            </a:pPr>
            <a:r>
              <a:rPr lang="en-IN" sz="1800" dirty="0"/>
              <a:t>        ↓</a:t>
            </a:r>
          </a:p>
          <a:p>
            <a:r>
              <a:rPr lang="en-IN" sz="1800" b="1" dirty="0"/>
              <a:t>Step 5:</a:t>
            </a:r>
            <a:r>
              <a:rPr lang="en-IN" sz="1800" dirty="0"/>
              <a:t> Relevant supplier/product information is identified.</a:t>
            </a:r>
          </a:p>
          <a:p>
            <a:pPr marL="0" indent="0">
              <a:buNone/>
            </a:pPr>
            <a:r>
              <a:rPr lang="en-IN" sz="1800" dirty="0"/>
              <a:t>        ↓</a:t>
            </a:r>
          </a:p>
          <a:p>
            <a:r>
              <a:rPr lang="en-IN" sz="1800" b="1" dirty="0"/>
              <a:t>Step 6:</a:t>
            </a:r>
            <a:r>
              <a:rPr lang="en-IN" sz="1800" dirty="0"/>
              <a:t> LAKHEE generates an understandable response.</a:t>
            </a:r>
          </a:p>
          <a:p>
            <a:pPr marL="0" indent="0">
              <a:buNone/>
            </a:pPr>
            <a:r>
              <a:rPr lang="en-IN" sz="1800" dirty="0"/>
              <a:t>        ↓</a:t>
            </a:r>
          </a:p>
          <a:p>
            <a:r>
              <a:rPr lang="en-IN" sz="1800" b="1" dirty="0"/>
              <a:t>Step 7:</a:t>
            </a:r>
            <a:r>
              <a:rPr lang="en-IN" sz="1800" dirty="0"/>
              <a:t> Farmer receives procurement assistance.</a:t>
            </a:r>
          </a:p>
          <a:p>
            <a:pPr marL="0" indent="0">
              <a:buNone/>
            </a:pPr>
            <a:endParaRPr lang="en-IN" sz="1800" b="1" dirty="0">
              <a:solidFill>
                <a:srgbClr val="0F0F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7E439-2EF8-378D-71BB-48E03A3A6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13FA0B5-2B3A-6D88-FA0F-F7D857E09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IN" sz="4400" b="1" dirty="0">
                <a:solidFill>
                  <a:schemeClr val="accent1"/>
                </a:solidFill>
              </a:rPr>
              <a:t>Technology Used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42EF09-7D9D-D62E-0F35-9E277ECDD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6"/>
            <a:ext cx="11214568" cy="5167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Programming Language</a:t>
            </a:r>
          </a:p>
          <a:p>
            <a:r>
              <a:rPr lang="en-IN" sz="1800" b="1" dirty="0"/>
              <a:t>Python</a:t>
            </a:r>
            <a:endParaRPr lang="en-IN" sz="1800" dirty="0"/>
          </a:p>
          <a:p>
            <a:r>
              <a:rPr lang="en-IN" sz="1800" dirty="0"/>
              <a:t>Python is used for developing the complete application logic and integrating the AI model.</a:t>
            </a:r>
          </a:p>
          <a:p>
            <a:pPr marL="0" indent="0">
              <a:buNone/>
            </a:pPr>
            <a:r>
              <a:rPr lang="en-IN" sz="1800" b="1" dirty="0"/>
              <a:t>Development Platform</a:t>
            </a:r>
          </a:p>
          <a:p>
            <a:r>
              <a:rPr lang="en-IN" sz="1800" b="1" dirty="0"/>
              <a:t>IBM Bob</a:t>
            </a:r>
            <a:endParaRPr lang="en-IN" sz="1800" dirty="0"/>
          </a:p>
          <a:p>
            <a:r>
              <a:rPr lang="en-IN" sz="1800" dirty="0"/>
              <a:t>IBM Bob is used to develop and build the LAKHEE application.</a:t>
            </a:r>
          </a:p>
          <a:p>
            <a:pPr marL="0" indent="0">
              <a:buNone/>
            </a:pPr>
            <a:r>
              <a:rPr lang="en-IN" sz="1800" b="1" dirty="0"/>
              <a:t>Artificial Intelligence</a:t>
            </a:r>
          </a:p>
          <a:p>
            <a:r>
              <a:rPr lang="en-IN" sz="1800" b="1" dirty="0"/>
              <a:t>Gemini 3.6 Flash</a:t>
            </a:r>
            <a:endParaRPr lang="en-IN" sz="1800" dirty="0"/>
          </a:p>
          <a:p>
            <a:r>
              <a:rPr lang="en-IN" sz="1800" dirty="0"/>
              <a:t>The Gemini 3.6 Flash model provides the AI capabilities required to understand farmer requirements and generate relevant responses.</a:t>
            </a:r>
          </a:p>
          <a:p>
            <a:pPr marL="0" indent="0">
              <a:buNone/>
            </a:pPr>
            <a:r>
              <a:rPr lang="en-IN" sz="1800" b="1" dirty="0"/>
              <a:t>Application Flow</a:t>
            </a:r>
          </a:p>
          <a:p>
            <a:r>
              <a:rPr lang="en-IN" sz="1800" b="1" dirty="0"/>
              <a:t>Farmer → LAKHEE → Python → Gemini 3.6 Flash → Response</a:t>
            </a:r>
            <a:endParaRPr lang="en-IN" sz="1800" dirty="0"/>
          </a:p>
          <a:p>
            <a:pPr marL="0" indent="0">
              <a:buNone/>
            </a:pPr>
            <a:endParaRPr lang="en-IN" sz="1800" b="1" dirty="0">
              <a:solidFill>
                <a:srgbClr val="0F0F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653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F0871F-2198-9E37-C96F-3611AA19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847440"/>
            <a:ext cx="5085346" cy="48635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The system follows an AI-assisted requirement-processing approach.</a:t>
            </a:r>
          </a:p>
          <a:p>
            <a:pPr marL="0" indent="0">
              <a:buNone/>
            </a:pPr>
            <a:r>
              <a:rPr lang="en-IN" sz="1800" b="1" dirty="0"/>
              <a:t>Input</a:t>
            </a:r>
          </a:p>
          <a:p>
            <a:pPr lvl="0"/>
            <a:r>
              <a:rPr lang="en-IN" sz="1800" dirty="0"/>
              <a:t>Farmer's query</a:t>
            </a:r>
          </a:p>
          <a:p>
            <a:pPr lvl="0"/>
            <a:r>
              <a:rPr lang="en-IN" sz="1800" dirty="0"/>
              <a:t>Crop information</a:t>
            </a:r>
          </a:p>
          <a:p>
            <a:pPr lvl="0"/>
            <a:r>
              <a:rPr lang="en-IN" sz="1800" dirty="0"/>
              <a:t>Required input</a:t>
            </a:r>
          </a:p>
          <a:p>
            <a:pPr lvl="0"/>
            <a:r>
              <a:rPr lang="en-IN" sz="1800" dirty="0"/>
              <a:t>Quantity</a:t>
            </a:r>
          </a:p>
          <a:p>
            <a:pPr lvl="0"/>
            <a:r>
              <a:rPr lang="en-IN" sz="1800" dirty="0"/>
              <a:t>Location</a:t>
            </a:r>
          </a:p>
          <a:p>
            <a:pPr lvl="0"/>
            <a:r>
              <a:rPr lang="en-IN" sz="1800" dirty="0"/>
              <a:t>Urgency</a:t>
            </a:r>
          </a:p>
          <a:p>
            <a:pPr marL="305435" indent="-305435"/>
            <a:endParaRPr lang="en-IN" dirty="0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2F7ABF74-C772-C662-CB19-9C71FC1FA07D}"/>
              </a:ext>
            </a:extLst>
          </p:cNvPr>
          <p:cNvSpPr txBox="1">
            <a:spLocks/>
          </p:cNvSpPr>
          <p:nvPr/>
        </p:nvSpPr>
        <p:spPr>
          <a:xfrm>
            <a:off x="5901657" y="1197578"/>
            <a:ext cx="5085346" cy="5051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IN" sz="1800" b="1" dirty="0"/>
              <a:t>Processing</a:t>
            </a:r>
          </a:p>
          <a:p>
            <a:r>
              <a:rPr lang="en-IN" sz="1800" dirty="0"/>
              <a:t>Receive farmer input.</a:t>
            </a:r>
          </a:p>
          <a:p>
            <a:r>
              <a:rPr lang="en-IN" sz="1800" dirty="0"/>
              <a:t>Extract relevant requirements.</a:t>
            </a:r>
          </a:p>
          <a:p>
            <a:r>
              <a:rPr lang="en-IN" sz="1800" dirty="0"/>
              <a:t>Send the requirement for AI processing.</a:t>
            </a:r>
          </a:p>
          <a:p>
            <a:r>
              <a:rPr lang="en-IN" sz="1800" dirty="0"/>
              <a:t>Gemini 3.6 Flash analyses the input.</a:t>
            </a:r>
          </a:p>
          <a:p>
            <a:r>
              <a:rPr lang="en-IN" sz="1800" dirty="0"/>
              <a:t>Identify relevant product/supplier information.</a:t>
            </a:r>
          </a:p>
          <a:p>
            <a:r>
              <a:rPr lang="en-IN" sz="1800" dirty="0"/>
              <a:t>Generate a suitable response.</a:t>
            </a:r>
          </a:p>
          <a:p>
            <a:r>
              <a:rPr lang="en-IN" sz="1800" dirty="0"/>
              <a:t>Display the result to the farmer</a:t>
            </a:r>
          </a:p>
          <a:p>
            <a:pPr marL="305435" indent="-305435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95FE1-FDBC-58E8-EC30-4FBA87FB7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F8F8B09-9A1F-4BC2-85A5-FE1118BE2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Deployment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3385A6-12FF-35BA-8B00-BF45C88E6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097000"/>
            <a:ext cx="4905208" cy="52164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The LAKHEE application is developed using </a:t>
            </a:r>
            <a:r>
              <a:rPr lang="en-IN" sz="1800" b="1" dirty="0"/>
              <a:t>IBM Bob</a:t>
            </a:r>
            <a:r>
              <a:rPr lang="en-IN" sz="1800" dirty="0"/>
              <a:t> and implemented using </a:t>
            </a:r>
            <a:r>
              <a:rPr lang="en-IN" sz="1800" b="1" dirty="0"/>
              <a:t>Python</a:t>
            </a:r>
            <a:r>
              <a:rPr lang="en-IN" sz="1800" dirty="0"/>
              <a:t>.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b="1" dirty="0"/>
              <a:t>Application Architecture</a:t>
            </a:r>
          </a:p>
          <a:p>
            <a:r>
              <a:rPr lang="en-IN" sz="1800" b="1" dirty="0"/>
              <a:t>User Interface</a:t>
            </a:r>
            <a:br>
              <a:rPr lang="en-IN" sz="1800" dirty="0"/>
            </a:br>
            <a:r>
              <a:rPr lang="en-IN" sz="1800" dirty="0"/>
              <a:t>↓</a:t>
            </a:r>
            <a:br>
              <a:rPr lang="en-IN" sz="1800" dirty="0"/>
            </a:br>
            <a:r>
              <a:rPr lang="en-IN" sz="1800" b="1" dirty="0"/>
              <a:t>Python Application</a:t>
            </a:r>
            <a:br>
              <a:rPr lang="en-IN" sz="1800" dirty="0"/>
            </a:br>
            <a:r>
              <a:rPr lang="en-IN" sz="1800" dirty="0"/>
              <a:t>↓</a:t>
            </a:r>
            <a:br>
              <a:rPr lang="en-IN" sz="1800" dirty="0"/>
            </a:br>
            <a:r>
              <a:rPr lang="en-IN" sz="1800" b="1" dirty="0"/>
              <a:t>Gemini 3.6 Flash</a:t>
            </a:r>
            <a:br>
              <a:rPr lang="en-IN" sz="1800" dirty="0"/>
            </a:br>
            <a:r>
              <a:rPr lang="en-IN" sz="1800" dirty="0"/>
              <a:t>↓</a:t>
            </a:r>
            <a:br>
              <a:rPr lang="en-IN" sz="1800" dirty="0"/>
            </a:br>
            <a:r>
              <a:rPr lang="en-IN" sz="1800" b="1" dirty="0"/>
              <a:t>AI-Based Requirement Processing</a:t>
            </a:r>
            <a:br>
              <a:rPr lang="en-IN" sz="1800" dirty="0"/>
            </a:br>
            <a:r>
              <a:rPr lang="en-IN" sz="1800" dirty="0"/>
              <a:t>↓</a:t>
            </a:r>
            <a:br>
              <a:rPr lang="en-IN" sz="1800" dirty="0"/>
            </a:br>
            <a:r>
              <a:rPr lang="en-IN" sz="1800" b="1" dirty="0"/>
              <a:t>Generated Response</a:t>
            </a:r>
            <a:endParaRPr lang="en-IN" sz="1800" dirty="0"/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0759DF17-3516-4647-9804-2E31C162056D}"/>
              </a:ext>
            </a:extLst>
          </p:cNvPr>
          <p:cNvSpPr txBox="1">
            <a:spLocks/>
          </p:cNvSpPr>
          <p:nvPr/>
        </p:nvSpPr>
        <p:spPr>
          <a:xfrm>
            <a:off x="6096000" y="1440999"/>
            <a:ext cx="5514808" cy="5007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IN" sz="1800" b="1" dirty="0"/>
              <a:t>Key Deployment Characteristics</a:t>
            </a:r>
          </a:p>
          <a:p>
            <a:r>
              <a:rPr lang="en-IN" sz="1800" dirty="0"/>
              <a:t>Python-based application</a:t>
            </a:r>
          </a:p>
          <a:p>
            <a:r>
              <a:rPr lang="en-IN" sz="1800" dirty="0"/>
              <a:t>AI-assisted processing</a:t>
            </a:r>
          </a:p>
          <a:p>
            <a:r>
              <a:rPr lang="en-IN" sz="1800" dirty="0"/>
              <a:t>Simple farmer-oriented interface</a:t>
            </a:r>
          </a:p>
          <a:p>
            <a:r>
              <a:rPr lang="en-IN" sz="1800" dirty="0"/>
              <a:t>Internet-enabled Gemini interaction</a:t>
            </a:r>
          </a:p>
          <a:p>
            <a:r>
              <a:rPr lang="en-IN" sz="1800" dirty="0"/>
              <a:t>Designed for agricultural procurement assistance</a:t>
            </a:r>
          </a:p>
          <a:p>
            <a:pPr marL="0" indent="0">
              <a:buFont typeface="Wingdings 2" panose="05020102010507070707" pitchFamily="18" charset="2"/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13647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solidFill>
                  <a:srgbClr val="0F0F0F"/>
                </a:solidFill>
                <a:ea typeface="+mn-lt"/>
                <a:cs typeface="+mn-lt"/>
              </a:rPr>
              <a:t>.</a:t>
            </a:r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DA56A3-2FB0-0564-A94E-0CED2226E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1308652"/>
            <a:ext cx="9448801" cy="4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B2849-52C9-D1AF-4B18-7ECC5007E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95E2C24-441E-0421-2930-70C8D6897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00460B-96DF-0206-F682-5650419D4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solidFill>
                  <a:srgbClr val="0F0F0F"/>
                </a:solidFill>
                <a:ea typeface="+mn-lt"/>
                <a:cs typeface="+mn-lt"/>
              </a:rPr>
              <a:t>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414022-C321-39FF-75DC-11487BDF5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04" y="1302026"/>
            <a:ext cx="5903495" cy="29213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E6E5C3-053E-5B35-821B-7ECDF3778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3074617"/>
            <a:ext cx="6095999" cy="284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177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9C8E5-2DB0-98BE-9760-3C44FB5A3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0BDACBE-49FF-0BFE-2C73-CCC312DC2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2B504F-9257-B243-65F9-54B179550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solidFill>
                  <a:srgbClr val="0F0F0F"/>
                </a:solidFill>
                <a:ea typeface="+mn-lt"/>
                <a:cs typeface="+mn-lt"/>
              </a:rPr>
              <a:t>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249EBA-B9D4-7215-05A2-FCFA59D2A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1394116"/>
            <a:ext cx="10218820" cy="476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721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91211-91C3-843C-FF73-E77778547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006A1E4-26D2-3A5D-56E2-5963ED928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91B739-5FFC-0DBE-4A77-D2053BB3E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solidFill>
                  <a:srgbClr val="0F0F0F"/>
                </a:solidFill>
                <a:ea typeface="+mn-lt"/>
                <a:cs typeface="+mn-lt"/>
              </a:rPr>
              <a:t>.</a:t>
            </a:r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DBCEB3-8808-E9E1-0D51-E48D6EB121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00"/>
          <a:stretch>
            <a:fillRect/>
          </a:stretch>
        </p:blipFill>
        <p:spPr>
          <a:xfrm>
            <a:off x="757655" y="1232452"/>
            <a:ext cx="9461166" cy="499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821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813" y="1333817"/>
            <a:ext cx="10600156" cy="48220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	</a:t>
            </a:r>
            <a:r>
              <a:rPr lang="en-IN" sz="1800" dirty="0"/>
              <a:t>LAKHEE – KHET KI DOST was developed as an AI-powered agricultural procurement assistance platform.</a:t>
            </a:r>
          </a:p>
          <a:p>
            <a:pPr marL="0" indent="0">
              <a:buNone/>
            </a:pPr>
            <a:r>
              <a:rPr lang="en-IN" sz="1800" dirty="0"/>
              <a:t>The system combines:</a:t>
            </a:r>
          </a:p>
          <a:p>
            <a:pPr lvl="0"/>
            <a:r>
              <a:rPr lang="en-IN" sz="1800" b="1" dirty="0"/>
              <a:t>Python-based application development</a:t>
            </a:r>
            <a:endParaRPr lang="en-IN" sz="1800" dirty="0"/>
          </a:p>
          <a:p>
            <a:pPr lvl="0"/>
            <a:r>
              <a:rPr lang="en-IN" sz="1800" b="1" dirty="0"/>
              <a:t>IBM Bob development environment</a:t>
            </a:r>
            <a:endParaRPr lang="en-IN" sz="1800" dirty="0"/>
          </a:p>
          <a:p>
            <a:pPr lvl="0"/>
            <a:r>
              <a:rPr lang="en-IN" sz="1800" b="1" dirty="0"/>
              <a:t>Gemini 3.6 Flash AI model</a:t>
            </a:r>
            <a:endParaRPr lang="en-IN" sz="1800" dirty="0"/>
          </a:p>
          <a:p>
            <a:pPr lvl="0"/>
            <a:r>
              <a:rPr lang="en-IN" sz="1800" dirty="0"/>
              <a:t>Farmer requirement processing</a:t>
            </a:r>
          </a:p>
          <a:p>
            <a:pPr lvl="0"/>
            <a:r>
              <a:rPr lang="en-IN" sz="1800" dirty="0"/>
              <a:t>Agricultural-input procurement assistance</a:t>
            </a:r>
          </a:p>
          <a:p>
            <a:pPr marL="0" indent="0">
              <a:buNone/>
            </a:pPr>
            <a:r>
              <a:rPr lang="en-IN" sz="1800" dirty="0"/>
              <a:t>	The developed prototype demonstrates the potential of Generative AI to make agricultural-input procurement </a:t>
            </a:r>
            <a:r>
              <a:rPr lang="en-IN" sz="1800" b="1" dirty="0"/>
              <a:t>simpler, faster and more accessible</a:t>
            </a:r>
            <a:r>
              <a:rPr lang="en-IN" sz="1800" dirty="0"/>
              <a:t> for farmers.</a:t>
            </a:r>
          </a:p>
          <a:p>
            <a:pPr marL="0" indent="0">
              <a:buNone/>
            </a:pPr>
            <a:endParaRPr lang="en-IN" sz="2000" dirty="0">
              <a:solidFill>
                <a:srgbClr val="0F0F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837" y="2044567"/>
            <a:ext cx="10470552" cy="469311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The LAKHEE platform can be further enhanced by introducing:</a:t>
            </a:r>
          </a:p>
          <a:p>
            <a:r>
              <a:rPr lang="en-IN" sz="1800" dirty="0"/>
              <a:t>GPS-based nearby supplier identification</a:t>
            </a:r>
          </a:p>
          <a:p>
            <a:pPr lvl="0"/>
            <a:r>
              <a:rPr lang="en-IN" sz="1800" dirty="0"/>
              <a:t>Real-time supplier inventory integration</a:t>
            </a:r>
          </a:p>
          <a:p>
            <a:pPr lvl="0"/>
            <a:r>
              <a:rPr lang="en-IN" sz="1800" dirty="0"/>
              <a:t>Real-time fertilizer and agrochemical price comparison</a:t>
            </a:r>
          </a:p>
          <a:p>
            <a:pPr lvl="0"/>
            <a:r>
              <a:rPr lang="en-IN" sz="1800" dirty="0"/>
              <a:t>SMS and WhatsApp notifications</a:t>
            </a:r>
          </a:p>
          <a:p>
            <a:pPr lvl="0"/>
            <a:r>
              <a:rPr lang="en-IN" sz="1800" dirty="0"/>
              <a:t>Regional-language support including Assamese</a:t>
            </a:r>
          </a:p>
          <a:p>
            <a:pPr lvl="0"/>
            <a:r>
              <a:rPr lang="en-IN" sz="1800" dirty="0"/>
              <a:t>Voice-based interaction for farmers</a:t>
            </a:r>
          </a:p>
          <a:p>
            <a:pPr lvl="0"/>
            <a:r>
              <a:rPr lang="en-IN" sz="1800" dirty="0"/>
              <a:t>Digital order and delivery tracking</a:t>
            </a:r>
          </a:p>
          <a:p>
            <a:pPr lvl="0"/>
            <a:r>
              <a:rPr lang="en-IN" sz="1800" dirty="0"/>
              <a:t>Supplier license verification</a:t>
            </a:r>
          </a:p>
          <a:p>
            <a:pPr lvl="0"/>
            <a:r>
              <a:rPr lang="en-IN" sz="1800" dirty="0"/>
              <a:t>AI-based demand forecasting</a:t>
            </a:r>
          </a:p>
          <a:p>
            <a:pPr lvl="0"/>
            <a:r>
              <a:rPr lang="en-IN" sz="1800" dirty="0"/>
              <a:t>Regional agricultural-input shortage prediction</a:t>
            </a:r>
          </a:p>
          <a:p>
            <a:pPr lvl="0"/>
            <a:r>
              <a:rPr lang="en-IN" sz="1800" dirty="0"/>
              <a:t>Integration with agricultural marketplaces and government platforms</a:t>
            </a:r>
          </a:p>
          <a:p>
            <a:pPr marL="0" indent="0">
              <a:buNone/>
            </a:pPr>
            <a:endParaRPr lang="en-US" sz="1800" b="1" dirty="0"/>
          </a:p>
          <a:p>
            <a:pPr marL="305435" indent="-305435"/>
            <a:endParaRPr lang="en-US" sz="18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81192" y="668197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232452"/>
            <a:ext cx="8498639" cy="3513221"/>
          </a:xfrm>
        </p:spPr>
        <p:txBody>
          <a:bodyPr>
            <a:normAutofit/>
          </a:bodyPr>
          <a:lstStyle/>
          <a:p>
            <a:pPr lvl="0"/>
            <a:r>
              <a:rPr lang="en-IN" sz="1800" dirty="0"/>
              <a:t>IBM Bob – Application Development Platform</a:t>
            </a:r>
          </a:p>
          <a:p>
            <a:pPr lvl="0"/>
            <a:r>
              <a:rPr lang="en-IN" sz="1800" dirty="0"/>
              <a:t>Python Documentation</a:t>
            </a:r>
          </a:p>
          <a:p>
            <a:pPr lvl="0"/>
            <a:r>
              <a:rPr lang="en-IN" sz="1800" dirty="0"/>
              <a:t>Google Gemini / Gemini API Documentation</a:t>
            </a:r>
          </a:p>
          <a:p>
            <a:pPr lvl="0"/>
            <a:r>
              <a:rPr lang="en-IN" sz="1800" dirty="0"/>
              <a:t>Relevant literature on Generative AI in Agriculture</a:t>
            </a:r>
          </a:p>
          <a:p>
            <a:pPr lvl="0"/>
            <a:r>
              <a:rPr lang="en-IN" sz="1800" dirty="0"/>
              <a:t>Agricultural fertilizer and agrochemical management resources</a:t>
            </a:r>
          </a:p>
          <a:p>
            <a:pPr lvl="0"/>
            <a:r>
              <a:rPr lang="en-IN" sz="1800" dirty="0"/>
              <a:t>Agricultural supply-chain and procurement management literature</a:t>
            </a:r>
          </a:p>
          <a:p>
            <a:pPr marL="305435" indent="-305435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7422-ED9D-D856-C6AD-0F1A715C2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Deployment link / </a:t>
            </a:r>
            <a:r>
              <a:rPr lang="en-IN" err="1"/>
              <a:t>github</a:t>
            </a:r>
            <a:r>
              <a:rPr lang="en-IN"/>
              <a:t>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47C2-EF01-12B0-99EA-861F9629D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6"/>
            <a:ext cx="8979903" cy="2564121"/>
          </a:xfrm>
        </p:spPr>
        <p:txBody>
          <a:bodyPr>
            <a:normAutofit/>
          </a:bodyPr>
          <a:lstStyle/>
          <a:p>
            <a:pPr marL="305435" indent="-305435"/>
            <a:r>
              <a:rPr lang="en-IN" sz="2000" dirty="0" err="1"/>
              <a:t>Github</a:t>
            </a:r>
            <a:r>
              <a:rPr lang="en-IN" sz="2000" dirty="0"/>
              <a:t> Link: </a:t>
            </a:r>
            <a:r>
              <a:rPr lang="en-IN" sz="2000" dirty="0">
                <a:hlinkClick r:id="rId2"/>
              </a:rPr>
              <a:t>https://github.com/bhabarnabhazarika2002-coder/LAKHEE.AI.git</a:t>
            </a: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305435" indent="-305435"/>
            <a:r>
              <a:rPr lang="en-IN" sz="2000" dirty="0"/>
              <a:t>Deployment: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9629BF-5600-8CA3-6BB6-ACA6AEECD65A}"/>
              </a:ext>
            </a:extLst>
          </p:cNvPr>
          <p:cNvSpPr txBox="1"/>
          <p:nvPr/>
        </p:nvSpPr>
        <p:spPr>
          <a:xfrm>
            <a:off x="2406314" y="2879376"/>
            <a:ext cx="65772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https://lakheeai-jouhfibzkbsnpwshgck35r.streamlit.app/</a:t>
            </a:r>
          </a:p>
        </p:txBody>
      </p:sp>
    </p:spTree>
    <p:extLst>
      <p:ext uri="{BB962C8B-B14F-4D97-AF65-F5344CB8AC3E}">
        <p14:creationId xmlns:p14="http://schemas.microsoft.com/office/powerpoint/2010/main" val="258852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628" y="2557671"/>
            <a:ext cx="929874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106</TotalTime>
  <Words>716</Words>
  <Application>Microsoft Office PowerPoint</Application>
  <PresentationFormat>Widescreen</PresentationFormat>
  <Paragraphs>134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LAKHEE AI : India's AI-Powered Procurement Platform for Fertilizers &amp; Agrochemicals  </vt:lpstr>
      <vt:lpstr>OUTLINE</vt:lpstr>
      <vt:lpstr>Problem Statement</vt:lpstr>
      <vt:lpstr>Proposed Solution</vt:lpstr>
      <vt:lpstr>System  Approach</vt:lpstr>
      <vt:lpstr>Technology Used</vt:lpstr>
      <vt:lpstr>Algorithm</vt:lpstr>
      <vt:lpstr>Deployment</vt:lpstr>
      <vt:lpstr>Result</vt:lpstr>
      <vt:lpstr>Result</vt:lpstr>
      <vt:lpstr>Result</vt:lpstr>
      <vt:lpstr>Result</vt:lpstr>
      <vt:lpstr>Conclusion</vt:lpstr>
      <vt:lpstr>PowerPoint Presentation</vt:lpstr>
      <vt:lpstr>References</vt:lpstr>
      <vt:lpstr>Deployment link / 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Ishan Hazarika</cp:lastModifiedBy>
  <cp:revision>24</cp:revision>
  <dcterms:created xsi:type="dcterms:W3CDTF">2021-05-26T16:50:10Z</dcterms:created>
  <dcterms:modified xsi:type="dcterms:W3CDTF">2026-09-09T12:22:48Z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